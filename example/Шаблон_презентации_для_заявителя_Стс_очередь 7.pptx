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9" r:id="rId3"/>
    <p:sldId id="280" r:id="rId4"/>
    <p:sldId id="275" r:id="rId5"/>
    <p:sldId id="281" r:id="rId6"/>
    <p:sldId id="276" r:id="rId7"/>
    <p:sldId id="282" r:id="rId8"/>
    <p:sldId id="260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00FF"/>
    <a:srgbClr val="ADDAE3"/>
    <a:srgbClr val="FBB3C1"/>
    <a:srgbClr val="ED3833"/>
    <a:srgbClr val="FFAC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4506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7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1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53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6967-96B6-47F9-BEF7-899C0338F779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вадрат"/>
          <p:cNvSpPr/>
          <p:nvPr/>
        </p:nvSpPr>
        <p:spPr>
          <a:xfrm>
            <a:off x="0" y="3906152"/>
            <a:ext cx="5731538" cy="2951849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</a:t>
            </a:r>
            <a:r>
              <a:rPr lang="ru-RU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заявки</a:t>
            </a: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Наименование </a:t>
            </a:r>
            <a:r>
              <a:rPr lang="ru-RU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проекта</a:t>
            </a: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Фамилия, имя, отчество </a:t>
            </a:r>
            <a:r>
              <a:rPr lang="ru-RU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заявителя</a:t>
            </a: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При наличии </a:t>
            </a:r>
            <a:r>
              <a:rPr lang="en-US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№ договора программы «УМНИК» и тема проекта, если проект завершен в программе «УМНИК» с такой же темой</a:t>
            </a:r>
            <a:r>
              <a:rPr lang="ru-RU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dirty="0"/>
          </a:p>
        </p:txBody>
      </p:sp>
      <p:sp>
        <p:nvSpPr>
          <p:cNvPr id="171" name="Квадрат"/>
          <p:cNvSpPr/>
          <p:nvPr/>
        </p:nvSpPr>
        <p:spPr>
          <a:xfrm>
            <a:off x="5731539" y="5927334"/>
            <a:ext cx="3412461" cy="93066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2000">
                <a:solidFill>
                  <a:srgbClr val="FD493D"/>
                </a:solidFill>
              </a:defRPr>
            </a:pPr>
            <a:endParaRPr/>
          </a:p>
        </p:txBody>
      </p:sp>
      <p:sp>
        <p:nvSpPr>
          <p:cNvPr id="172" name="Прямоугольник"/>
          <p:cNvSpPr/>
          <p:nvPr/>
        </p:nvSpPr>
        <p:spPr>
          <a:xfrm>
            <a:off x="5731539" y="3910830"/>
            <a:ext cx="789471" cy="2016181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CAF17"/>
                </a:solidFill>
              </a:defRPr>
            </a:pPr>
            <a:endParaRPr/>
          </a:p>
        </p:txBody>
      </p:sp>
      <p:sp>
        <p:nvSpPr>
          <p:cNvPr id="173" name="Прямоугольник"/>
          <p:cNvSpPr/>
          <p:nvPr/>
        </p:nvSpPr>
        <p:spPr>
          <a:xfrm>
            <a:off x="6521011" y="3906151"/>
            <a:ext cx="2622989" cy="2021182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B5D8E1"/>
                </a:solidFill>
              </a:defRPr>
            </a:pPr>
            <a:endParaRPr/>
          </a:p>
        </p:txBody>
      </p:sp>
      <p:sp>
        <p:nvSpPr>
          <p:cNvPr id="174" name="Квадрат"/>
          <p:cNvSpPr/>
          <p:nvPr/>
        </p:nvSpPr>
        <p:spPr>
          <a:xfrm>
            <a:off x="6521011" y="0"/>
            <a:ext cx="2622989" cy="3906152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BB3C1"/>
                </a:solidFill>
              </a:defRPr>
            </a:pPr>
            <a:endParaRPr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xmlns="" id="{6863CA9C-F1C4-22E3-A14A-BBCED3104C92}"/>
              </a:ext>
            </a:extLst>
          </p:cNvPr>
          <p:cNvSpPr txBox="1"/>
          <p:nvPr/>
        </p:nvSpPr>
        <p:spPr>
          <a:xfrm>
            <a:off x="1225590" y="1511552"/>
            <a:ext cx="4711944" cy="259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Autofit/>
          </a:bodyPr>
          <a:lstStyle/>
          <a:p>
            <a:pPr defTabSz="877822">
              <a:defRPr sz="6900">
                <a:solidFill>
                  <a:srgbClr val="8F00FF"/>
                </a:solidFill>
                <a:latin typeface="Gilroy-ExtraBold"/>
                <a:ea typeface="Gilroy-ExtraBold"/>
                <a:cs typeface="Gilroy-ExtraBold"/>
                <a:sym typeface="Gilroy-ExtraBold"/>
              </a:defRPr>
            </a:pPr>
            <a:endParaRPr lang="ru-RU" sz="5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060235"/>
            <a:ext cx="1857486" cy="17246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8" y="332656"/>
            <a:ext cx="2001725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Двойные круглые скобки 10"/>
          <p:cNvSpPr/>
          <p:nvPr/>
        </p:nvSpPr>
        <p:spPr>
          <a:xfrm>
            <a:off x="827584" y="1615120"/>
            <a:ext cx="5507956" cy="2013173"/>
          </a:xfrm>
          <a:prstGeom prst="bracketPair">
            <a:avLst/>
          </a:prstGeom>
          <a:ln w="101600" cap="rnd" cmpd="sng">
            <a:gradFill flip="none" rotWithShape="1">
              <a:gsLst>
                <a:gs pos="0">
                  <a:srgbClr val="8F00FF"/>
                </a:gs>
                <a:gs pos="30000">
                  <a:srgbClr val="8F00FF"/>
                </a:gs>
                <a:gs pos="42000">
                  <a:srgbClr val="ED3833"/>
                </a:gs>
                <a:gs pos="100000">
                  <a:srgbClr val="ED3833"/>
                </a:gs>
              </a:gsLst>
              <a:path path="circle">
                <a:fillToRect l="100000" b="100000"/>
              </a:path>
              <a:tileRect t="-100000" r="-100000"/>
            </a:gradFill>
            <a:prstDash val="solid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1225590" y="1759135"/>
            <a:ext cx="4203124" cy="1725141"/>
          </a:xfrm>
        </p:spPr>
        <p:txBody>
          <a:bodyPr>
            <a:noAutofit/>
          </a:bodyPr>
          <a:lstStyle/>
          <a:p>
            <a:pPr algn="l"/>
            <a:r>
              <a:rPr lang="ru-RU" b="1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Студенческий</a:t>
            </a:r>
            <a:r>
              <a:rPr lang="ru-RU" b="1" dirty="0" smtClean="0">
                <a:solidFill>
                  <a:srgbClr val="FF0000"/>
                </a:solidFill>
                <a:latin typeface="Gilroy-ExtraBold"/>
              </a:rPr>
              <a:t> </a:t>
            </a:r>
            <a:br>
              <a:rPr lang="ru-RU" b="1" dirty="0" smtClean="0">
                <a:solidFill>
                  <a:srgbClr val="FF0000"/>
                </a:solidFill>
                <a:latin typeface="Gilroy-ExtraBold"/>
              </a:rPr>
            </a:br>
            <a:r>
              <a:rPr lang="ru-RU" b="1" dirty="0" smtClean="0">
                <a:solidFill>
                  <a:srgbClr val="ED3833"/>
                </a:solidFill>
                <a:latin typeface="Arial Black" panose="020B0A04020102020204" pitchFamily="34" charset="0"/>
              </a:rPr>
              <a:t>Стартап</a:t>
            </a:r>
            <a:endParaRPr lang="ru-RU" b="1" dirty="0">
              <a:solidFill>
                <a:srgbClr val="ED3833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067944" y="3076211"/>
            <a:ext cx="1706284" cy="525971"/>
          </a:xfrm>
          <a:prstGeom prst="roundRect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очередь</a:t>
            </a:r>
          </a:p>
        </p:txBody>
      </p:sp>
    </p:spTree>
    <p:extLst>
      <p:ext uri="{BB962C8B-B14F-4D97-AF65-F5344CB8AC3E}">
        <p14:creationId xmlns:p14="http://schemas.microsoft.com/office/powerpoint/2010/main" val="319253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3794538" cy="144016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169" y="5773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Какую проблему решает продукт </a:t>
            </a:r>
            <a:r>
              <a:rPr lang="ru-RU" sz="1800" dirty="0" smtClean="0">
                <a:latin typeface="Georgia" panose="02040502050405020303" pitchFamily="18" charset="0"/>
              </a:rPr>
              <a:t>проекта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Описание конечного продукта </a:t>
            </a:r>
            <a:r>
              <a:rPr lang="ru-RU" sz="1800" dirty="0" smtClean="0">
                <a:latin typeface="Georgia" panose="02040502050405020303" pitchFamily="18" charset="0"/>
              </a:rPr>
              <a:t>проекта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Область применения продукта </a:t>
            </a:r>
            <a:r>
              <a:rPr lang="ru-RU" sz="1800" dirty="0" smtClean="0">
                <a:latin typeface="Georgia" panose="02040502050405020303" pitchFamily="18" charset="0"/>
              </a:rPr>
              <a:t>проекта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57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Техническое решение </a:t>
            </a:r>
            <a:r>
              <a:rPr lang="ru-RU" sz="1800" dirty="0" smtClean="0">
                <a:latin typeface="Georgia" panose="02040502050405020303" pitchFamily="18" charset="0"/>
              </a:rPr>
              <a:t>проекта, </a:t>
            </a:r>
            <a:r>
              <a:rPr lang="ru-RU" sz="1800" dirty="0" err="1" smtClean="0">
                <a:latin typeface="Georgia" panose="02040502050405020303" pitchFamily="18" charset="0"/>
              </a:rPr>
              <a:t>инновационность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Преимущества выбранного технического </a:t>
            </a:r>
            <a:r>
              <a:rPr lang="ru-RU" sz="1800" dirty="0" smtClean="0">
                <a:latin typeface="Georgia" panose="02040502050405020303" pitchFamily="18" charset="0"/>
              </a:rPr>
              <a:t>решения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Имеющийся задел (в том числе научно-технический) для реализации </a:t>
            </a:r>
            <a:r>
              <a:rPr lang="ru-RU" sz="1800" dirty="0" smtClean="0">
                <a:latin typeface="Georgia" panose="02040502050405020303" pitchFamily="18" charset="0"/>
              </a:rPr>
              <a:t>проекта</a:t>
            </a:r>
            <a:endParaRPr lang="en-US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Соответствие направлению национального проекта технологического лидерства (если указано в заявке)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При наличии </a:t>
            </a:r>
            <a:r>
              <a:rPr lang="ru-RU" sz="1800" dirty="0">
                <a:latin typeface="Georgia" panose="02040502050405020303" pitchFamily="18" charset="0"/>
              </a:rPr>
              <a:t>интеллектуальная </a:t>
            </a:r>
            <a:r>
              <a:rPr lang="ru-RU" sz="1800" dirty="0" smtClean="0">
                <a:latin typeface="Georgia" panose="02040502050405020303" pitchFamily="18" charset="0"/>
              </a:rPr>
              <a:t>собственность</a:t>
            </a:r>
            <a:endParaRPr lang="ru-RU" sz="1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7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</a:rPr>
              <a:t>Аналоги и конкуренты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Существующие </a:t>
            </a:r>
            <a:r>
              <a:rPr lang="ru-RU" sz="1800" dirty="0" smtClean="0">
                <a:latin typeface="Georgia" panose="02040502050405020303" pitchFamily="18" charset="0"/>
              </a:rPr>
              <a:t>аналоги</a:t>
            </a:r>
            <a:endParaRPr lang="ru-RU" sz="1800" dirty="0">
              <a:latin typeface="Georgia" panose="02040502050405020303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Конкурентные </a:t>
            </a:r>
            <a:r>
              <a:rPr lang="ru-RU" sz="1800" dirty="0" smtClean="0">
                <a:latin typeface="Georgia" panose="02040502050405020303" pitchFamily="18" charset="0"/>
              </a:rPr>
              <a:t>преимущества </a:t>
            </a:r>
            <a:r>
              <a:rPr lang="ru-RU" sz="1800" dirty="0" smtClean="0">
                <a:latin typeface="Georgia" panose="02040502050405020303" pitchFamily="18" charset="0"/>
              </a:rPr>
              <a:t>продукта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Востребованность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403476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Область </a:t>
            </a:r>
            <a:r>
              <a:rPr lang="ru-RU" sz="1800" dirty="0">
                <a:latin typeface="Georgia" panose="02040502050405020303" pitchFamily="18" charset="0"/>
              </a:rPr>
              <a:t>применения продукта </a:t>
            </a:r>
            <a:r>
              <a:rPr lang="ru-RU" sz="1800" dirty="0" smtClean="0">
                <a:latin typeface="Georgia" panose="02040502050405020303" pitchFamily="18" charset="0"/>
              </a:rPr>
              <a:t>проекта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Рынок, сегмент рынка, потенциальный </a:t>
            </a:r>
            <a:r>
              <a:rPr lang="ru-RU" sz="1800" dirty="0" smtClean="0">
                <a:latin typeface="Georgia" panose="02040502050405020303" pitchFamily="18" charset="0"/>
              </a:rPr>
              <a:t>потребитель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Возможные барьеры для выхода на рынок</a:t>
            </a: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4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Ключевая техническая </a:t>
            </a:r>
            <a:r>
              <a:rPr lang="ru-RU" sz="1800" dirty="0" smtClean="0">
                <a:latin typeface="Georgia" panose="02040502050405020303" pitchFamily="18" charset="0"/>
              </a:rPr>
              <a:t>задача </a:t>
            </a: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Ресурсы проекта </a:t>
            </a:r>
            <a:r>
              <a:rPr lang="ru-RU" sz="1800" dirty="0" smtClean="0">
                <a:latin typeface="Georgia" panose="02040502050405020303" pitchFamily="18" charset="0"/>
              </a:rPr>
              <a:t>(имеющиеся </a:t>
            </a:r>
            <a:r>
              <a:rPr lang="ru-RU" sz="1800" dirty="0">
                <a:latin typeface="Georgia" panose="02040502050405020303" pitchFamily="18" charset="0"/>
              </a:rPr>
              <a:t>и планируемые к привлечению </a:t>
            </a:r>
            <a:r>
              <a:rPr lang="ru-RU" sz="1800" dirty="0" smtClean="0">
                <a:latin typeface="Georgia" panose="02040502050405020303" pitchFamily="18" charset="0"/>
              </a:rPr>
              <a:t>(</a:t>
            </a:r>
            <a:r>
              <a:rPr lang="ru-RU" sz="1800" dirty="0">
                <a:latin typeface="Georgia" panose="02040502050405020303" pitchFamily="18" charset="0"/>
              </a:rPr>
              <a:t>людские, материалы, оборудование, финансовые и пр.)</a:t>
            </a: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Затраты на реализацию </a:t>
            </a:r>
            <a:r>
              <a:rPr lang="ru-RU" sz="1800" dirty="0" smtClean="0">
                <a:latin typeface="Georgia" panose="02040502050405020303" pitchFamily="18" charset="0"/>
              </a:rPr>
              <a:t>проекта</a:t>
            </a: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Планы по формированию команды </a:t>
            </a:r>
            <a:r>
              <a:rPr lang="ru-RU" sz="1800" dirty="0" smtClean="0">
                <a:latin typeface="Georgia" panose="02040502050405020303" pitchFamily="18" charset="0"/>
              </a:rPr>
              <a:t>проекта</a:t>
            </a: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Планируемый способ получения </a:t>
            </a:r>
            <a:r>
              <a:rPr lang="ru-RU" sz="1800" dirty="0" smtClean="0">
                <a:latin typeface="Georgia" panose="02040502050405020303" pitchFamily="18" charset="0"/>
              </a:rPr>
              <a:t>дохода</a:t>
            </a:r>
            <a:endParaRPr lang="ru-RU" sz="1800" dirty="0">
              <a:latin typeface="Georgia" panose="02040502050405020303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00183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Команда проекта, квалификация и опыт ее членов</a:t>
            </a: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Опыт </a:t>
            </a:r>
            <a:r>
              <a:rPr lang="ru-RU" sz="1800" dirty="0" smtClean="0">
                <a:latin typeface="Georgia" panose="02040502050405020303" pitchFamily="18" charset="0"/>
              </a:rPr>
              <a:t>реализации научно-технических</a:t>
            </a:r>
            <a:r>
              <a:rPr lang="ru-RU" sz="1800" dirty="0">
                <a:latin typeface="Georgia" panose="02040502050405020303" pitchFamily="18" charset="0"/>
              </a:rPr>
              <a:t>, технологических, инновационных и иных </a:t>
            </a:r>
            <a:r>
              <a:rPr lang="ru-RU" sz="1800" dirty="0" smtClean="0">
                <a:latin typeface="Georgia" panose="02040502050405020303" pitchFamily="18" charset="0"/>
              </a:rPr>
              <a:t>проектов по теме заявки</a:t>
            </a:r>
          </a:p>
          <a:p>
            <a:pPr marL="514350" indent="-514350"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При </a:t>
            </a:r>
            <a:r>
              <a:rPr lang="ru-RU" sz="1800" dirty="0" smtClean="0">
                <a:latin typeface="Georgia" panose="02040502050405020303" pitchFamily="18" charset="0"/>
              </a:rPr>
              <a:t>наличии: </a:t>
            </a:r>
            <a:r>
              <a:rPr lang="ru-RU" sz="1800" dirty="0">
                <a:latin typeface="Georgia" panose="02040502050405020303" pitchFamily="18" charset="0"/>
              </a:rPr>
              <a:t>участие в программе «Стартап как диплом», </a:t>
            </a:r>
            <a:r>
              <a:rPr lang="ru-RU" sz="1800" dirty="0" smtClean="0">
                <a:latin typeface="Georgia" panose="02040502050405020303" pitchFamily="18" charset="0"/>
              </a:rPr>
              <a:t>участие </a:t>
            </a:r>
            <a:r>
              <a:rPr lang="ru-RU" sz="1800" dirty="0" smtClean="0">
                <a:latin typeface="Georgia" panose="02040502050405020303" pitchFamily="18" charset="0"/>
              </a:rPr>
              <a:t>в</a:t>
            </a:r>
            <a:r>
              <a:rPr lang="ru-RU" sz="1800" dirty="0" smtClean="0">
                <a:latin typeface="Georgia" panose="02040502050405020303" pitchFamily="18" charset="0"/>
              </a:rPr>
              <a:t> </a:t>
            </a:r>
            <a:r>
              <a:rPr lang="ru-RU" sz="1800" dirty="0">
                <a:latin typeface="Georgia" panose="02040502050405020303" pitchFamily="18" charset="0"/>
              </a:rPr>
              <a:t>образовательных программ в области </a:t>
            </a:r>
            <a:r>
              <a:rPr lang="ru-RU" sz="1800" dirty="0" smtClean="0">
                <a:latin typeface="Georgia" panose="02040502050405020303" pitchFamily="18" charset="0"/>
              </a:rPr>
              <a:t>предпринимательства</a:t>
            </a:r>
          </a:p>
          <a:p>
            <a:pPr marL="514350" indent="-514350"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Участие в университетских и отраслевых акселераторах, бизнес-инкубаторах и пр.</a:t>
            </a:r>
          </a:p>
          <a:p>
            <a:pPr marL="514350" indent="-514350">
              <a:buAutoNum type="arabicPeriod"/>
            </a:pPr>
            <a:r>
              <a:rPr lang="ru-RU" sz="1800" dirty="0" smtClean="0">
                <a:latin typeface="Georgia" panose="02040502050405020303" pitchFamily="18" charset="0"/>
              </a:rPr>
              <a:t>Участие в передовой инженерной школе/ молодежной лаборатории/студенческом конструкторском бюро</a:t>
            </a:r>
            <a:endParaRPr lang="ru-RU" sz="1800" dirty="0">
              <a:latin typeface="Georgia" panose="02040502050405020303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Квалификация заявителя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3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>
            <a:off x="3022474" y="-25311"/>
            <a:ext cx="6121526" cy="1800326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7" name="Прямоугольник 9"/>
          <p:cNvSpPr/>
          <p:nvPr/>
        </p:nvSpPr>
        <p:spPr>
          <a:xfrm>
            <a:off x="5275122" y="-25311"/>
            <a:ext cx="3868878" cy="1811885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ADDAE3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Прямоугольник 7"/>
          <p:cNvSpPr/>
          <p:nvPr/>
        </p:nvSpPr>
        <p:spPr>
          <a:xfrm>
            <a:off x="3022474" y="1726072"/>
            <a:ext cx="6121524" cy="5131928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F00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Квадрат"/>
          <p:cNvSpPr/>
          <p:nvPr/>
        </p:nvSpPr>
        <p:spPr>
          <a:xfrm>
            <a:off x="5281544" y="1726072"/>
            <a:ext cx="3868878" cy="5170773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" name="Прямоугольник 13"/>
          <p:cNvSpPr/>
          <p:nvPr/>
        </p:nvSpPr>
        <p:spPr>
          <a:xfrm>
            <a:off x="3022474" y="5340367"/>
            <a:ext cx="2258750" cy="151588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8104" y="1988840"/>
            <a:ext cx="36724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Почта</a:t>
            </a:r>
            <a:endParaRPr lang="ru-RU" sz="1600" b="1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Телефон</a:t>
            </a:r>
            <a:endParaRPr lang="ru-RU" sz="1600" b="1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7" t="34896" r="19769" b="32552"/>
          <a:stretch/>
        </p:blipFill>
        <p:spPr bwMode="auto">
          <a:xfrm>
            <a:off x="10692680" y="1556322"/>
            <a:ext cx="1965708" cy="2310257"/>
          </a:xfrm>
          <a:prstGeom prst="rect">
            <a:avLst/>
          </a:prstGeom>
          <a:solidFill>
            <a:srgbClr val="ADDAE3"/>
          </a:solidFill>
          <a:ln>
            <a:noFill/>
          </a:ln>
          <a:extLst/>
        </p:spPr>
      </p:pic>
      <p:sp>
        <p:nvSpPr>
          <p:cNvPr id="14" name="Прямоугольник 13"/>
          <p:cNvSpPr/>
          <p:nvPr/>
        </p:nvSpPr>
        <p:spPr>
          <a:xfrm>
            <a:off x="5868144" y="280564"/>
            <a:ext cx="2536400" cy="10402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Спасибо </a:t>
            </a:r>
            <a:endParaRPr lang="ru-RU" sz="2800" b="1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 </a:t>
            </a: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внимание!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22" y="4794411"/>
            <a:ext cx="1857486" cy="1724605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2016224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2"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115616" y="1726072"/>
            <a:ext cx="3672408" cy="985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84628" y="1895596"/>
            <a:ext cx="1765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</a:t>
            </a:r>
            <a:r>
              <a:rPr lang="ru-RU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заявки</a:t>
            </a: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b="1" dirty="0" smtClean="0">
                <a:solidFill>
                  <a:srgbClr val="0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ФИО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1559" y="2711450"/>
            <a:ext cx="3384375" cy="3021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046677" y="3866222"/>
            <a:ext cx="123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Фото проекта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77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9120</TotalTime>
  <Words>269</Words>
  <Application>Microsoft Office PowerPoint</Application>
  <PresentationFormat>Экран (4:3)</PresentationFormat>
  <Paragraphs>64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Gilroy-ExtraBold</vt:lpstr>
      <vt:lpstr>Helvetica</vt:lpstr>
      <vt:lpstr>Helvetica Neue</vt:lpstr>
      <vt:lpstr>Tahoma</vt:lpstr>
      <vt:lpstr>Тема Office</vt:lpstr>
      <vt:lpstr>Студенческий  Стартап</vt:lpstr>
      <vt:lpstr> </vt:lpstr>
      <vt:lpstr> </vt:lpstr>
      <vt:lpstr> </vt:lpstr>
      <vt:lpstr> </vt:lpstr>
      <vt:lpstr> </vt:lpstr>
      <vt:lpstr> </vt:lpstr>
      <vt:lpstr>Презентация PowerPoint</vt:lpstr>
    </vt:vector>
  </TitlesOfParts>
  <Company>FASIE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Студенческий  Стартап</dc:title>
  <dc:creator>Позднякова Елена Николаевна</dc:creator>
  <cp:lastModifiedBy>Сиври Анна Александровна</cp:lastModifiedBy>
  <cp:revision>72</cp:revision>
  <dcterms:created xsi:type="dcterms:W3CDTF">2023-02-08T09:03:57Z</dcterms:created>
  <dcterms:modified xsi:type="dcterms:W3CDTF">2026-01-29T09:15:50Z</dcterms:modified>
</cp:coreProperties>
</file>